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</p:sldIdLst>
  <p:sldSz cx="14630400" cy="8229600"/>
  <p:notesSz cx="8229600" cy="146304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Nunito Light" pitchFamily="2" charset="0"/>
      <p:regular r:id="rId18"/>
    </p:embeddedFont>
    <p:embeddedFont>
      <p:font typeface="Nunito Semi Bold" panose="020B0604020202020204" charset="0"/>
      <p:regular r:id="rId19"/>
    </p:embeddedFont>
    <p:embeddedFont>
      <p:font typeface="PT Sans" panose="020B0503020203020204" pitchFamily="34" charset="0"/>
      <p:regular r:id="rId20"/>
      <p:bold r:id="rId21"/>
      <p:italic r:id="rId22"/>
    </p:embeddedFont>
  </p:embeddedFontLst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8067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0A53A-9B03-FC5D-31BD-09679FEA9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0D6179-53D8-C815-DFF1-CA5542AA73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237385-CD05-43A2-1240-05C7630032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A71B5F-0488-7EE6-45D2-17FF4A1F93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958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07A9FAC-37F9-18E7-F2A3-DD10F50A74B4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8059420"/>
            <a:ext cx="4767263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7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***Este documento está clasificado como PUBLICO por MOVISTAR. ***This document is classified as PUBLIC by MOVISTAR.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2113836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GEPA: Optimización Automática de Prompts con Reflexión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4584859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Cómo un LLM 'profesor' mejora automáticamente tus prompts mediante análisis de errores</a:t>
            </a:r>
            <a:endParaRPr lang="en-US" sz="1850" dirty="0"/>
          </a:p>
        </p:txBody>
      </p:sp>
      <p:sp>
        <p:nvSpPr>
          <p:cNvPr id="5" name="Shape 2"/>
          <p:cNvSpPr/>
          <p:nvPr/>
        </p:nvSpPr>
        <p:spPr>
          <a:xfrm>
            <a:off x="6324124" y="5642967"/>
            <a:ext cx="1561386" cy="449818"/>
          </a:xfrm>
          <a:prstGeom prst="roundRect">
            <a:avLst>
              <a:gd name="adj" fmla="val 63861"/>
            </a:avLst>
          </a:prstGeom>
          <a:solidFill>
            <a:srgbClr val="48330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3"/>
          <p:cNvSpPr/>
          <p:nvPr/>
        </p:nvSpPr>
        <p:spPr>
          <a:xfrm>
            <a:off x="6467713" y="5714762"/>
            <a:ext cx="1274207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DEMO TÉCNICA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005167" y="5620107"/>
            <a:ext cx="1482804" cy="495538"/>
          </a:xfrm>
          <a:prstGeom prst="roundRect">
            <a:avLst>
              <a:gd name="adj" fmla="val 57969"/>
            </a:avLst>
          </a:prstGeom>
          <a:noFill/>
          <a:ln w="22860">
            <a:solidFill>
              <a:srgbClr val="F2B42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5"/>
          <p:cNvSpPr/>
          <p:nvPr/>
        </p:nvSpPr>
        <p:spPr>
          <a:xfrm>
            <a:off x="8171617" y="5714762"/>
            <a:ext cx="1149906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2B42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REFLEXIO LAB</a:t>
            </a:r>
            <a:endParaRPr lang="en-US" sz="150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C71D66B-AE49-619A-18CA-8F94BD214DCA}"/>
              </a:ext>
            </a:extLst>
          </p:cNvPr>
          <p:cNvSpPr/>
          <p:nvPr/>
        </p:nvSpPr>
        <p:spPr>
          <a:xfrm>
            <a:off x="12822148" y="7736440"/>
            <a:ext cx="1705510" cy="421241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rgbClr val="00002E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636157"/>
            <a:ext cx="12547402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El Desafío: Optimizar Prompts es Lento y Manual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93846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Antes de GEPA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3529727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Escribes un prompt genérico basado en intuición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3996452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Pruebas manualmente con casos aislados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4463177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Ves errores, ajustas por prueba y error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7724" y="4929902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Repites durante horas para mejoras marginales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37724" y="5396627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Resultado depende completamente de tu experiencia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837724" y="5995035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El proceso es artesanal, subjetivo y no escalable.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7614761" y="293846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Con GEPA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614761" y="3529727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Defines prompt inicial y casos de prueba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7614761" y="3996452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GEPA ejecuta y analiza errores automáticamente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7614761" y="4463177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LLM "profesor" genera variantes optimizadas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7614761" y="4929902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Búsqueda evolutiva identifica el mejor candidato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7614761" y="5396627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Resultado: prompt especializado en minutos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7614761" y="5995035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El proceso es sistemático, medible y reproducible.</a:t>
            </a:r>
            <a:endParaRPr lang="en-US" sz="1850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8AD02F2-1750-29A5-BA8A-8DE104C89826}"/>
              </a:ext>
            </a:extLst>
          </p:cNvPr>
          <p:cNvSpPr/>
          <p:nvPr/>
        </p:nvSpPr>
        <p:spPr>
          <a:xfrm>
            <a:off x="12822148" y="7736440"/>
            <a:ext cx="1705510" cy="421241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rgbClr val="00002E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1499" y="767358"/>
            <a:ext cx="7553801" cy="1069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Qué Hace GEPA: Test-Driven Development para Prompts</a:t>
            </a:r>
            <a:endParaRPr lang="en-US" sz="3350" dirty="0"/>
          </a:p>
        </p:txBody>
      </p:sp>
      <p:sp>
        <p:nvSpPr>
          <p:cNvPr id="4" name="Text 1"/>
          <p:cNvSpPr/>
          <p:nvPr/>
        </p:nvSpPr>
        <p:spPr>
          <a:xfrm>
            <a:off x="6281499" y="2109073"/>
            <a:ext cx="181689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281499" y="2395061"/>
            <a:ext cx="3686056" cy="22860"/>
          </a:xfrm>
          <a:prstGeom prst="rect">
            <a:avLst/>
          </a:prstGeom>
          <a:solidFill>
            <a:srgbClr val="F2B42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3"/>
          <p:cNvSpPr/>
          <p:nvPr/>
        </p:nvSpPr>
        <p:spPr>
          <a:xfrm>
            <a:off x="6281499" y="2531626"/>
            <a:ext cx="2138124" cy="267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Ejecutar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281499" y="2907863"/>
            <a:ext cx="3686056" cy="1162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El prompt actual procesa micro-lotes de 3 casos para observar errores y aciertos. Evaluación ágil que permite iteración ultra-rápida sin consumir todo el dataset.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149245" y="2109073"/>
            <a:ext cx="181689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0149245" y="2395061"/>
            <a:ext cx="3686056" cy="22860"/>
          </a:xfrm>
          <a:prstGeom prst="rect">
            <a:avLst/>
          </a:prstGeom>
          <a:solidFill>
            <a:srgbClr val="D7425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7"/>
          <p:cNvSpPr/>
          <p:nvPr/>
        </p:nvSpPr>
        <p:spPr>
          <a:xfrm>
            <a:off x="10149245" y="2531626"/>
            <a:ext cx="2138124" cy="267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Reflexionar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0149245" y="2907863"/>
            <a:ext cx="3686056" cy="1453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El LLM Profesor analiza los errores detectados, razona sobre las causas raíz y propone mejoras específicas. Ejemplo: "El prompt olvidó mencionar límites monetarios, debería enfatizar precisión numérica".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281499" y="4678918"/>
            <a:ext cx="181689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281499" y="4964906"/>
            <a:ext cx="7553801" cy="22860"/>
          </a:xfrm>
          <a:prstGeom prst="rect">
            <a:avLst/>
          </a:prstGeom>
          <a:solidFill>
            <a:srgbClr val="DD785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4" name="Text 11"/>
          <p:cNvSpPr/>
          <p:nvPr/>
        </p:nvSpPr>
        <p:spPr>
          <a:xfrm>
            <a:off x="6281499" y="5101471"/>
            <a:ext cx="2138124" cy="267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Evolucionar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6281499" y="5477708"/>
            <a:ext cx="7553801" cy="581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Genera variantes mejoradas del prompt, las evalúa sistemáticamente y mantiene las mejores. Se repite hasta alcanzar el score objetivo definido.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281499" y="6399609"/>
            <a:ext cx="7553801" cy="1062633"/>
          </a:xfrm>
          <a:prstGeom prst="roundRect">
            <a:avLst>
              <a:gd name="adj" fmla="val 25655"/>
            </a:avLst>
          </a:prstGeom>
          <a:solidFill>
            <a:srgbClr val="483304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3189" y="6673334"/>
            <a:ext cx="227171" cy="181689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872049" y="6626662"/>
            <a:ext cx="6781562" cy="581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Búsqueda evolutiva Pareto-eficiente: mantiene candidatos complementarios, no solo el mejor</a:t>
            </a:r>
            <a:endParaRPr lang="en-US" sz="1400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8813D90-11E2-03DF-C8A5-3C5D0FB7286A}"/>
              </a:ext>
            </a:extLst>
          </p:cNvPr>
          <p:cNvSpPr/>
          <p:nvPr/>
        </p:nvSpPr>
        <p:spPr>
          <a:xfrm>
            <a:off x="12822148" y="7736440"/>
            <a:ext cx="1705510" cy="421241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rgbClr val="00002E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664845"/>
            <a:ext cx="7468553" cy="1126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El Cambio de Paradigma: De la Artesanía a la Ingeniería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324124" y="1867972"/>
            <a:ext cx="2862382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66A8E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GEPA es TDD para Prompts</a:t>
            </a:r>
            <a:endParaRPr lang="en-US" sz="17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124" y="2436733"/>
            <a:ext cx="957501" cy="139184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473077" y="2628186"/>
            <a:ext cx="2252901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El Problema Actual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7473077" y="3024664"/>
            <a:ext cx="6319599" cy="612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Vibe-based prompting</a:t>
            </a:r>
            <a:r>
              <a:rPr lang="en-US" sz="1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: escribimos, probamos un caso, y "creemos" que funciona. Sin métricas, sin validación sistemática.</a:t>
            </a:r>
            <a:endParaRPr lang="en-US" sz="15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124" y="3828574"/>
            <a:ext cx="957501" cy="139184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473077" y="4020026"/>
            <a:ext cx="2252901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La Solución GEPA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7473077" y="4416504"/>
            <a:ext cx="6319599" cy="612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Aplicamos </a:t>
            </a:r>
            <a:r>
              <a:rPr lang="en-US" sz="15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Test-Driven Development</a:t>
            </a:r>
            <a:r>
              <a:rPr lang="en-US" sz="1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al lenguaje natural. Definimos tests, medimos métricas, iteramos automáticamente.</a:t>
            </a:r>
            <a:endParaRPr lang="en-US" sz="15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124" y="5220414"/>
            <a:ext cx="957501" cy="139184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473077" y="5411867"/>
            <a:ext cx="2252901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El Resultado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7473077" y="5808345"/>
            <a:ext cx="6319599" cy="612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Profesionalización del desarrollo de IA Generativa con procesos reproducibles y resultados medibles.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6611303" y="7043023"/>
            <a:ext cx="7181374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GEPA no solo valida el prompt; </a:t>
            </a:r>
            <a:r>
              <a:rPr lang="en-US" sz="15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 escribe por ti</a:t>
            </a:r>
            <a:r>
              <a:rPr lang="en-US" sz="1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hasta que los tests pasan en verde.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6324124" y="6827639"/>
            <a:ext cx="22860" cy="736997"/>
          </a:xfrm>
          <a:prstGeom prst="rect">
            <a:avLst/>
          </a:prstGeom>
          <a:solidFill>
            <a:srgbClr val="F2B42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9097A44-DBF6-8BFD-FA7C-B8F6491CCAAC}"/>
              </a:ext>
            </a:extLst>
          </p:cNvPr>
          <p:cNvSpPr/>
          <p:nvPr/>
        </p:nvSpPr>
        <p:spPr>
          <a:xfrm>
            <a:off x="12822148" y="7736440"/>
            <a:ext cx="1705510" cy="421241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rgbClr val="00002E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10458"/>
            <a:ext cx="6364605" cy="633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TDD Clásico vs. Flujo GEPA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837724" y="1530191"/>
            <a:ext cx="6929318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La analogía perfecta entre desarrollo de software y prompts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837724" y="2170152"/>
            <a:ext cx="12954952" cy="3724275"/>
          </a:xfrm>
          <a:prstGeom prst="roundRect">
            <a:avLst>
              <a:gd name="adj" fmla="val 8677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845344" y="2177772"/>
            <a:ext cx="12939713" cy="6181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1060728" y="2314575"/>
            <a:ext cx="4741307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Fase TDD (Software)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240423" y="2314575"/>
            <a:ext cx="7329249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Fase GEPA (Prompt Engineering)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845344" y="2795945"/>
            <a:ext cx="12939713" cy="6181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1060728" y="2932748"/>
            <a:ext cx="4741307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1. Write Test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240423" y="2932748"/>
            <a:ext cx="7329249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Definir Dataset de Entrenamiento y Validación (Inputs + Salidas Esperadas)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845344" y="3414117"/>
            <a:ext cx="12939713" cy="6181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1060728" y="3550920"/>
            <a:ext cx="4741307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2. Red (Falla)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240423" y="3550920"/>
            <a:ext cx="7329249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Baseline Run (Prompt inicial con baja precisión, ej: 40%)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845344" y="4032290"/>
            <a:ext cx="12939713" cy="6181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1060728" y="4169093"/>
            <a:ext cx="4741307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3. Code &amp; Refactor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240423" y="4169093"/>
            <a:ext cx="7329249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Optimización Automática (Modelo Profesor reescribe basándose en errores)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845344" y="4650462"/>
            <a:ext cx="12939713" cy="6181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1060728" y="4787265"/>
            <a:ext cx="4741307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4. Green (Pasa)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240423" y="4787265"/>
            <a:ext cx="7329249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Prompt Optimizado (Alcanza métrica objetivo, ej: &gt;90%)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845344" y="5268635"/>
            <a:ext cx="12939713" cy="6181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1060728" y="5405438"/>
            <a:ext cx="4741307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5. Integration Test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6240423" y="5405438"/>
            <a:ext cx="7329249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Prueba de Robustez (Validar generalización en Test Set)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837724" y="6136719"/>
            <a:ext cx="12954952" cy="1282303"/>
          </a:xfrm>
          <a:prstGeom prst="roundRect">
            <a:avLst>
              <a:gd name="adj" fmla="val 11409"/>
            </a:avLst>
          </a:prstGeom>
          <a:solidFill>
            <a:srgbClr val="00002E">
              <a:alpha val="75000"/>
            </a:srgbClr>
          </a:solidFill>
          <a:ln w="30480">
            <a:solidFill>
              <a:srgbClr val="F2B42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Shape 22"/>
          <p:cNvSpPr/>
          <p:nvPr/>
        </p:nvSpPr>
        <p:spPr>
          <a:xfrm>
            <a:off x="807244" y="6136719"/>
            <a:ext cx="121920" cy="1282303"/>
          </a:xfrm>
          <a:prstGeom prst="roundRect">
            <a:avLst>
              <a:gd name="adj" fmla="val 265063"/>
            </a:avLst>
          </a:prstGeom>
          <a:solidFill>
            <a:srgbClr val="F2B42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/>
          <p:nvPr/>
        </p:nvSpPr>
        <p:spPr>
          <a:xfrm>
            <a:off x="1175028" y="6382583"/>
            <a:ext cx="2534603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El Superpoder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175028" y="6828592"/>
            <a:ext cx="12371784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 TDD tradicional, </a:t>
            </a:r>
            <a:r>
              <a:rPr lang="en-US" sz="16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tú</a:t>
            </a:r>
            <a:r>
              <a:rPr lang="en-US" sz="1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escribes el código. En GEPA, </a:t>
            </a:r>
            <a:r>
              <a:rPr lang="en-US" sz="16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 IA</a:t>
            </a:r>
            <a:r>
              <a:rPr lang="en-US" sz="1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analiza el error y reescribe el prompt. Es </a:t>
            </a:r>
            <a:r>
              <a:rPr lang="en-US" sz="1650" dirty="0">
                <a:solidFill>
                  <a:srgbClr val="66A8E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TDD Autónomo</a:t>
            </a:r>
            <a:r>
              <a:rPr lang="en-US" sz="1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</a:t>
            </a:r>
            <a:endParaRPr lang="en-US" sz="1650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FFBC5017-AE1C-435F-8B8C-B8B4AAB0594D}"/>
              </a:ext>
            </a:extLst>
          </p:cNvPr>
          <p:cNvSpPr/>
          <p:nvPr/>
        </p:nvSpPr>
        <p:spPr>
          <a:xfrm>
            <a:off x="12822148" y="7736440"/>
            <a:ext cx="1705510" cy="421241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rgbClr val="00002E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689134"/>
            <a:ext cx="6291739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Estrategia Profesor-Estudiante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837724" y="1328976"/>
            <a:ext cx="4842272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El secreto: desacoplar inteligencia de inferencia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1053108" y="1897737"/>
            <a:ext cx="22860" cy="4296013"/>
          </a:xfrm>
          <a:prstGeom prst="roundRect">
            <a:avLst>
              <a:gd name="adj" fmla="val 1256592"/>
            </a:avLst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Shape 3"/>
          <p:cNvSpPr/>
          <p:nvPr/>
        </p:nvSpPr>
        <p:spPr>
          <a:xfrm>
            <a:off x="1245632" y="2101691"/>
            <a:ext cx="574477" cy="22860"/>
          </a:xfrm>
          <a:prstGeom prst="roundRect">
            <a:avLst>
              <a:gd name="adj" fmla="val 1256592"/>
            </a:avLst>
          </a:prstGeom>
          <a:solidFill>
            <a:srgbClr val="F2B42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Shape 4"/>
          <p:cNvSpPr/>
          <p:nvPr/>
        </p:nvSpPr>
        <p:spPr>
          <a:xfrm>
            <a:off x="837724" y="1897737"/>
            <a:ext cx="430768" cy="430768"/>
          </a:xfrm>
          <a:prstGeom prst="roundRect">
            <a:avLst>
              <a:gd name="adj" fmla="val 66685"/>
            </a:avLst>
          </a:prstGeom>
          <a:solidFill>
            <a:srgbClr val="00002E"/>
          </a:solidFill>
          <a:ln w="22860">
            <a:solidFill>
              <a:srgbClr val="F2B42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5"/>
          <p:cNvSpPr/>
          <p:nvPr/>
        </p:nvSpPr>
        <p:spPr>
          <a:xfrm>
            <a:off x="917972" y="1944172"/>
            <a:ext cx="270272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2010608" y="1963460"/>
            <a:ext cx="2252901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Fase 1: Optimización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2010608" y="2359938"/>
            <a:ext cx="6295668" cy="918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Modelo PROFESOR (GPT-4o)</a:t>
            </a:r>
            <a:r>
              <a:rPr lang="en-US" sz="1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: Alta capacidad analítica para analizar errores y redactar prompt maestro. Inversión inicial controlada que se realiza una sola vez.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245632" y="3865483"/>
            <a:ext cx="574477" cy="22860"/>
          </a:xfrm>
          <a:prstGeom prst="roundRect">
            <a:avLst>
              <a:gd name="adj" fmla="val 1256592"/>
            </a:avLst>
          </a:prstGeom>
          <a:solidFill>
            <a:srgbClr val="D7425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Shape 9"/>
          <p:cNvSpPr/>
          <p:nvPr/>
        </p:nvSpPr>
        <p:spPr>
          <a:xfrm>
            <a:off x="837724" y="3661529"/>
            <a:ext cx="430768" cy="430768"/>
          </a:xfrm>
          <a:prstGeom prst="roundRect">
            <a:avLst>
              <a:gd name="adj" fmla="val 66685"/>
            </a:avLst>
          </a:prstGeom>
          <a:solidFill>
            <a:srgbClr val="00002E"/>
          </a:solidFill>
          <a:ln w="22860">
            <a:solidFill>
              <a:srgbClr val="D7425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0"/>
          <p:cNvSpPr/>
          <p:nvPr/>
        </p:nvSpPr>
        <p:spPr>
          <a:xfrm>
            <a:off x="917972" y="3707963"/>
            <a:ext cx="270272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2010608" y="3727252"/>
            <a:ext cx="2252901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Resultado Intermedio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2010608" y="4123730"/>
            <a:ext cx="6295668" cy="612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 genera un </a:t>
            </a:r>
            <a:r>
              <a:rPr lang="en-US" sz="15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Prompt Especializado</a:t>
            </a:r>
            <a:r>
              <a:rPr lang="en-US" sz="1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que captura la inteligencia del modelo profesor en forma de instrucciones precisas.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1245632" y="5323046"/>
            <a:ext cx="574477" cy="22860"/>
          </a:xfrm>
          <a:prstGeom prst="roundRect">
            <a:avLst>
              <a:gd name="adj" fmla="val 1256592"/>
            </a:avLst>
          </a:prstGeom>
          <a:solidFill>
            <a:srgbClr val="DD785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7" name="Shape 14"/>
          <p:cNvSpPr/>
          <p:nvPr/>
        </p:nvSpPr>
        <p:spPr>
          <a:xfrm>
            <a:off x="837724" y="5119092"/>
            <a:ext cx="430768" cy="430768"/>
          </a:xfrm>
          <a:prstGeom prst="roundRect">
            <a:avLst>
              <a:gd name="adj" fmla="val 66685"/>
            </a:avLst>
          </a:prstGeom>
          <a:solidFill>
            <a:srgbClr val="00002E"/>
          </a:solidFill>
          <a:ln w="22860">
            <a:solidFill>
              <a:srgbClr val="DD785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Text 15"/>
          <p:cNvSpPr/>
          <p:nvPr/>
        </p:nvSpPr>
        <p:spPr>
          <a:xfrm>
            <a:off x="917972" y="5165527"/>
            <a:ext cx="270272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2010608" y="5184815"/>
            <a:ext cx="2252901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Fase 2: Producción</a:t>
            </a:r>
            <a:endParaRPr lang="en-US" sz="1750" dirty="0"/>
          </a:p>
        </p:txBody>
      </p:sp>
      <p:sp>
        <p:nvSpPr>
          <p:cNvPr id="20" name="Text 17"/>
          <p:cNvSpPr/>
          <p:nvPr/>
        </p:nvSpPr>
        <p:spPr>
          <a:xfrm>
            <a:off x="2010608" y="5581293"/>
            <a:ext cx="6295668" cy="612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Modelo EFICIENTE (GPT-4.1-mini)</a:t>
            </a:r>
            <a:r>
              <a:rPr lang="en-US" sz="1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: Ejecuta miles de llamadas con el prompt optimizado. Calidad de nivel GPT-4o al costo de GPT-4.1-mini.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837724" y="6409134"/>
            <a:ext cx="7468553" cy="1131332"/>
          </a:xfrm>
          <a:prstGeom prst="roundRect">
            <a:avLst>
              <a:gd name="adj" fmla="val 25391"/>
            </a:avLst>
          </a:prstGeom>
          <a:solidFill>
            <a:srgbClr val="00002E"/>
          </a:solidFill>
          <a:ln w="22860">
            <a:solidFill>
              <a:srgbClr val="F2B42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Text 19"/>
          <p:cNvSpPr/>
          <p:nvPr/>
        </p:nvSpPr>
        <p:spPr>
          <a:xfrm>
            <a:off x="1052036" y="6623447"/>
            <a:ext cx="4495324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Reducción del 90% en costos de producción</a:t>
            </a:r>
            <a:endParaRPr lang="en-US" sz="1750" dirty="0"/>
          </a:p>
        </p:txBody>
      </p:sp>
      <p:sp>
        <p:nvSpPr>
          <p:cNvPr id="23" name="Text 20"/>
          <p:cNvSpPr/>
          <p:nvPr/>
        </p:nvSpPr>
        <p:spPr>
          <a:xfrm>
            <a:off x="1052036" y="7019925"/>
            <a:ext cx="7039928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Inteligencia de GPT-4o al costo de GPT-4.1-mini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690920"/>
            <a:ext cx="12954952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Resultados Reales: Impacto Medido en el Laboratorio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194679"/>
            <a:ext cx="778704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Mejoras consistentes con estrategia estudiante GPT-4.1-mini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37724" y="2905601"/>
            <a:ext cx="12954952" cy="3442454"/>
          </a:xfrm>
          <a:prstGeom prst="roundRect">
            <a:avLst>
              <a:gd name="adj" fmla="val 10431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845344" y="2913221"/>
            <a:ext cx="12939713" cy="68544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1084659" y="3064431"/>
            <a:ext cx="339947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Caso de Uso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4970383" y="3064431"/>
            <a:ext cx="210169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Mejora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7558326" y="3064431"/>
            <a:ext cx="598741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Detalle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845344" y="3598664"/>
            <a:ext cx="12939713" cy="68544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1084659" y="3749873"/>
            <a:ext cx="339947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Email Urgency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4970383" y="3749873"/>
            <a:ext cx="210169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66A8E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+38%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7558326" y="3749873"/>
            <a:ext cx="598741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59.1% → 85.5% precisión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845344" y="4284107"/>
            <a:ext cx="12939713" cy="68544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1084659" y="4435316"/>
            <a:ext cx="339947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CV Extraction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4970383" y="4435316"/>
            <a:ext cx="210169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66A8E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+24%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7558326" y="4435316"/>
            <a:ext cx="598741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60.0% → 84.3% precisión</a:t>
            </a:r>
            <a:endParaRPr lang="en-US" sz="1850" dirty="0"/>
          </a:p>
        </p:txBody>
      </p:sp>
      <p:sp>
        <p:nvSpPr>
          <p:cNvPr id="17" name="Shape 15"/>
          <p:cNvSpPr/>
          <p:nvPr/>
        </p:nvSpPr>
        <p:spPr>
          <a:xfrm>
            <a:off x="845344" y="4969550"/>
            <a:ext cx="12939713" cy="68544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1084659" y="5120759"/>
            <a:ext cx="339947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Text-to-SQL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4970383" y="5120759"/>
            <a:ext cx="210169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66A8E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+41%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7558326" y="5120759"/>
            <a:ext cx="598741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32.5% → 59.2% precisión</a:t>
            </a:r>
            <a:endParaRPr lang="en-US" sz="1850" dirty="0"/>
          </a:p>
        </p:txBody>
      </p:sp>
      <p:sp>
        <p:nvSpPr>
          <p:cNvPr id="21" name="Shape 19"/>
          <p:cNvSpPr/>
          <p:nvPr/>
        </p:nvSpPr>
        <p:spPr>
          <a:xfrm>
            <a:off x="845344" y="5654993"/>
            <a:ext cx="12939713" cy="68544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2" name="Text 20"/>
          <p:cNvSpPr/>
          <p:nvPr/>
        </p:nvSpPr>
        <p:spPr>
          <a:xfrm>
            <a:off x="1084659" y="5806202"/>
            <a:ext cx="339947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RAG Optimization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4970383" y="5806202"/>
            <a:ext cx="210169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66A8E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+42%</a:t>
            </a:r>
            <a:endParaRPr lang="en-US" sz="1850" dirty="0"/>
          </a:p>
        </p:txBody>
      </p:sp>
      <p:sp>
        <p:nvSpPr>
          <p:cNvPr id="24" name="Text 22"/>
          <p:cNvSpPr/>
          <p:nvPr/>
        </p:nvSpPr>
        <p:spPr>
          <a:xfrm>
            <a:off x="7558326" y="5806202"/>
            <a:ext cx="598741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51.7% → 85.2% precisión</a:t>
            </a:r>
            <a:endParaRPr lang="en-US" sz="1850" dirty="0"/>
          </a:p>
        </p:txBody>
      </p:sp>
      <p:sp>
        <p:nvSpPr>
          <p:cNvPr id="25" name="Text 23"/>
          <p:cNvSpPr/>
          <p:nvPr/>
        </p:nvSpPr>
        <p:spPr>
          <a:xfrm>
            <a:off x="1196697" y="6886456"/>
            <a:ext cx="12595979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Mejoras consistentes de </a:t>
            </a:r>
            <a:r>
              <a:rPr lang="en-US" sz="18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+25% a +42%</a:t>
            </a: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en todos los casos sin cambiar de modelo, solo optimizando el prompt.</a:t>
            </a:r>
            <a:endParaRPr lang="en-US" sz="1850" dirty="0"/>
          </a:p>
        </p:txBody>
      </p:sp>
      <p:sp>
        <p:nvSpPr>
          <p:cNvPr id="26" name="Shape 24"/>
          <p:cNvSpPr/>
          <p:nvPr/>
        </p:nvSpPr>
        <p:spPr>
          <a:xfrm>
            <a:off x="837724" y="6617256"/>
            <a:ext cx="30480" cy="921425"/>
          </a:xfrm>
          <a:prstGeom prst="rect">
            <a:avLst/>
          </a:prstGeom>
          <a:solidFill>
            <a:srgbClr val="F2B42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BBD9141C-E21E-BD26-07B2-7E7EBD4FB0B0}"/>
              </a:ext>
            </a:extLst>
          </p:cNvPr>
          <p:cNvSpPr/>
          <p:nvPr/>
        </p:nvSpPr>
        <p:spPr>
          <a:xfrm>
            <a:off x="12822148" y="7736440"/>
            <a:ext cx="1705510" cy="421241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rgbClr val="00002E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0378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5102" y="2678549"/>
            <a:ext cx="6724769" cy="479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ROI: Inversión Mínima, Retorno Masivo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815102" y="3223141"/>
            <a:ext cx="3820239" cy="239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Análisis de costo-beneficio con datos reales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15102" y="3788807"/>
            <a:ext cx="4197548" cy="53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$0.12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1689854" y="4530447"/>
            <a:ext cx="2447925" cy="239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Costo Total de Optimización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15102" y="4867870"/>
            <a:ext cx="4197548" cy="521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Inversión única: 510 llamadas Task Model ($0.04) + 25 llamadas Reflection Model ($0.08)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216366" y="3788807"/>
            <a:ext cx="4197548" cy="53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101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6356152" y="4530447"/>
            <a:ext cx="1917978" cy="239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Punto de Equilibrio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216366" y="4867870"/>
            <a:ext cx="4197548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Llamadas necesarias para recuperar la inversión inicial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617631" y="3788807"/>
            <a:ext cx="4197668" cy="53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91,950%</a:t>
            </a:r>
            <a:endParaRPr lang="en-US" sz="4200" dirty="0"/>
          </a:p>
        </p:txBody>
      </p:sp>
      <p:sp>
        <p:nvSpPr>
          <p:cNvPr id="12" name="Text 9"/>
          <p:cNvSpPr/>
          <p:nvPr/>
        </p:nvSpPr>
        <p:spPr>
          <a:xfrm>
            <a:off x="10757416" y="4530447"/>
            <a:ext cx="1917978" cy="239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ROI a 100K llamadas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617631" y="4867870"/>
            <a:ext cx="4197668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Ahorro de $109.88 sobre inversión de $0.12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15102" y="5735717"/>
            <a:ext cx="2205871" cy="239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Ejemplo: 1,000 Llamadas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15102" y="6138386"/>
            <a:ext cx="6301264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Font typeface="+mj-lt"/>
              <a:buAutoNum type="arabicPeriod"/>
            </a:pPr>
            <a:r>
              <a:rPr lang="en-US" sz="12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Sin GEPA</a:t>
            </a:r>
            <a:r>
              <a:rPr lang="en-US" sz="12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: Modelo potente (GPT-4o) = $1.25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15102" y="6456164"/>
            <a:ext cx="6301264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Font typeface="+mj-lt"/>
              <a:buAutoNum type="arabicPeriod" startAt="2"/>
            </a:pPr>
            <a:r>
              <a:rPr lang="en-US" sz="12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 GEPA</a:t>
            </a:r>
            <a:r>
              <a:rPr lang="en-US" sz="12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: Optimización ($0.12) + Mini ($0.15) = $0.27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15102" y="6773942"/>
            <a:ext cx="6301264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Font typeface="+mj-lt"/>
              <a:buAutoNum type="arabicPeriod" startAt="3"/>
            </a:pPr>
            <a:r>
              <a:rPr lang="en-US" sz="12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Ahorro</a:t>
            </a:r>
            <a:r>
              <a:rPr lang="en-US" sz="12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: $0.98 USD (78% reducción)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15102" y="7091720"/>
            <a:ext cx="6301264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Font typeface="+mj-lt"/>
              <a:buAutoNum type="arabicPeriod" startAt="4"/>
            </a:pPr>
            <a:r>
              <a:rPr lang="en-US" sz="12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ROI</a:t>
            </a:r>
            <a:r>
              <a:rPr lang="en-US" sz="12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: 820% de retorno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521654" y="5735717"/>
            <a:ext cx="2138363" cy="239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Escalabilidad del Ahorro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521654" y="6138386"/>
            <a:ext cx="6301264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500 llamadas: </a:t>
            </a:r>
            <a:r>
              <a:rPr lang="en-US" sz="1250" dirty="0">
                <a:solidFill>
                  <a:srgbClr val="66A8E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ROI 360%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521654" y="6456164"/>
            <a:ext cx="6301264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5,000 llamadas: </a:t>
            </a:r>
            <a:r>
              <a:rPr lang="en-US" sz="1250" dirty="0">
                <a:solidFill>
                  <a:srgbClr val="66A8E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ROI 4,502%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7521654" y="6773942"/>
            <a:ext cx="6301264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50,000 llamadas: </a:t>
            </a:r>
            <a:r>
              <a:rPr lang="en-US" sz="1250" dirty="0">
                <a:solidFill>
                  <a:srgbClr val="66A8E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ROI 45,925%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521654" y="7181374"/>
            <a:ext cx="6301264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 mayor escala, mayor ahorro proporcional.</a:t>
            </a:r>
            <a:endParaRPr lang="en-US" sz="1250" dirty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032231EF-C76D-1E86-6B92-67A9E9F07006}"/>
              </a:ext>
            </a:extLst>
          </p:cNvPr>
          <p:cNvSpPr/>
          <p:nvPr/>
        </p:nvSpPr>
        <p:spPr>
          <a:xfrm>
            <a:off x="12822148" y="7736440"/>
            <a:ext cx="1705510" cy="421241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rgbClr val="00002E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A87ED-FBAF-545D-F7F9-BA6299013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5F789D46-EB4C-19E6-F791-CC4C43650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B62DEBF-927D-0468-767A-4880B798C62F}"/>
              </a:ext>
            </a:extLst>
          </p:cNvPr>
          <p:cNvSpPr/>
          <p:nvPr/>
        </p:nvSpPr>
        <p:spPr>
          <a:xfrm>
            <a:off x="837724" y="689134"/>
            <a:ext cx="6291739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Para </a:t>
            </a:r>
            <a:r>
              <a:rPr lang="en-US" sz="3500" dirty="0" err="1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que</a:t>
            </a:r>
            <a:r>
              <a:rPr lang="en-US" sz="35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</a:t>
            </a:r>
            <a:r>
              <a:rPr lang="en-US" sz="3500" dirty="0" err="1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usos</a:t>
            </a:r>
            <a:r>
              <a:rPr lang="en-US" sz="35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es de valor?</a:t>
            </a:r>
            <a:endParaRPr lang="en-US" sz="35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E2C58C0C-5A4D-85DB-93DB-5A8090526D6E}"/>
              </a:ext>
            </a:extLst>
          </p:cNvPr>
          <p:cNvSpPr/>
          <p:nvPr/>
        </p:nvSpPr>
        <p:spPr>
          <a:xfrm>
            <a:off x="1032559" y="1897737"/>
            <a:ext cx="45719" cy="3652123"/>
          </a:xfrm>
          <a:prstGeom prst="roundRect">
            <a:avLst>
              <a:gd name="adj" fmla="val 1256592"/>
            </a:avLst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C4983D29-9AA3-66E9-297B-27E26C20A8AB}"/>
              </a:ext>
            </a:extLst>
          </p:cNvPr>
          <p:cNvSpPr/>
          <p:nvPr/>
        </p:nvSpPr>
        <p:spPr>
          <a:xfrm>
            <a:off x="1245632" y="2101691"/>
            <a:ext cx="574477" cy="22860"/>
          </a:xfrm>
          <a:prstGeom prst="roundRect">
            <a:avLst>
              <a:gd name="adj" fmla="val 1256592"/>
            </a:avLst>
          </a:prstGeom>
          <a:solidFill>
            <a:srgbClr val="F2B42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1BA94A7E-F446-DC1C-7C17-3FA24AA0145C}"/>
              </a:ext>
            </a:extLst>
          </p:cNvPr>
          <p:cNvSpPr/>
          <p:nvPr/>
        </p:nvSpPr>
        <p:spPr>
          <a:xfrm>
            <a:off x="837724" y="1897737"/>
            <a:ext cx="430768" cy="430768"/>
          </a:xfrm>
          <a:prstGeom prst="roundRect">
            <a:avLst>
              <a:gd name="adj" fmla="val 66685"/>
            </a:avLst>
          </a:prstGeom>
          <a:solidFill>
            <a:srgbClr val="00002E"/>
          </a:solidFill>
          <a:ln w="22860">
            <a:solidFill>
              <a:srgbClr val="F2B42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DC62201-B095-DC8F-8A8A-DC284855206D}"/>
              </a:ext>
            </a:extLst>
          </p:cNvPr>
          <p:cNvSpPr/>
          <p:nvPr/>
        </p:nvSpPr>
        <p:spPr>
          <a:xfrm>
            <a:off x="917972" y="1995542"/>
            <a:ext cx="270272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21B3C7A2-CF8F-1887-0798-FF5155429B89}"/>
              </a:ext>
            </a:extLst>
          </p:cNvPr>
          <p:cNvSpPr/>
          <p:nvPr/>
        </p:nvSpPr>
        <p:spPr>
          <a:xfrm>
            <a:off x="2010608" y="1963460"/>
            <a:ext cx="2252901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 err="1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Optimización</a:t>
            </a:r>
            <a:r>
              <a:rPr lang="en-US" sz="17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de prompts</a:t>
            </a:r>
            <a:endParaRPr lang="en-US" sz="175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6A6B91AD-8291-56E6-DBE4-C920F54D9E8C}"/>
              </a:ext>
            </a:extLst>
          </p:cNvPr>
          <p:cNvSpPr/>
          <p:nvPr/>
        </p:nvSpPr>
        <p:spPr>
          <a:xfrm>
            <a:off x="2010608" y="2359938"/>
            <a:ext cx="6295668" cy="495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Un prompt </a:t>
            </a:r>
            <a:r>
              <a:rPr lang="en-US" sz="1500" b="1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que</a:t>
            </a:r>
            <a:r>
              <a:rPr lang="en-US" sz="15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sz="1500" b="1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puede</a:t>
            </a:r>
            <a:r>
              <a:rPr lang="en-US" sz="15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ser </a:t>
            </a:r>
            <a:r>
              <a:rPr lang="en-US" sz="1500" b="1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verificado</a:t>
            </a:r>
            <a:r>
              <a:rPr lang="en-US" sz="15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sz="1500" b="1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</a:t>
            </a:r>
            <a:r>
              <a:rPr lang="en-US" sz="15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sz="1500" b="1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su</a:t>
            </a:r>
            <a:r>
              <a:rPr lang="en-US" sz="15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sz="1500" b="1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efectividad</a:t>
            </a:r>
            <a:endParaRPr lang="en-US" sz="15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4EDD4D84-310A-32FD-FF9A-E013DEDC52CB}"/>
              </a:ext>
            </a:extLst>
          </p:cNvPr>
          <p:cNvSpPr/>
          <p:nvPr/>
        </p:nvSpPr>
        <p:spPr>
          <a:xfrm>
            <a:off x="1245632" y="3752469"/>
            <a:ext cx="574477" cy="22860"/>
          </a:xfrm>
          <a:prstGeom prst="roundRect">
            <a:avLst>
              <a:gd name="adj" fmla="val 1256592"/>
            </a:avLst>
          </a:prstGeom>
          <a:solidFill>
            <a:srgbClr val="F2B42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FF193DD0-C1CA-3C91-9E57-7437325E250C}"/>
              </a:ext>
            </a:extLst>
          </p:cNvPr>
          <p:cNvSpPr/>
          <p:nvPr/>
        </p:nvSpPr>
        <p:spPr>
          <a:xfrm>
            <a:off x="837724" y="3548515"/>
            <a:ext cx="430768" cy="430768"/>
          </a:xfrm>
          <a:prstGeom prst="roundRect">
            <a:avLst>
              <a:gd name="adj" fmla="val 66685"/>
            </a:avLst>
          </a:prstGeom>
          <a:solidFill>
            <a:srgbClr val="00002E"/>
          </a:solidFill>
          <a:ln w="22860">
            <a:solidFill>
              <a:srgbClr val="DD785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6E20A680-6FF3-65D8-C5B0-0CF921097849}"/>
              </a:ext>
            </a:extLst>
          </p:cNvPr>
          <p:cNvSpPr/>
          <p:nvPr/>
        </p:nvSpPr>
        <p:spPr>
          <a:xfrm>
            <a:off x="917972" y="3636045"/>
            <a:ext cx="270272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</a:t>
            </a:r>
            <a:endParaRPr lang="en-US" sz="21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3D219433-B486-FE18-B3AA-A316E672ED61}"/>
              </a:ext>
            </a:extLst>
          </p:cNvPr>
          <p:cNvSpPr/>
          <p:nvPr/>
        </p:nvSpPr>
        <p:spPr>
          <a:xfrm>
            <a:off x="2010608" y="3614238"/>
            <a:ext cx="3945851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ROI alto para </a:t>
            </a:r>
            <a:r>
              <a:rPr lang="en-US" sz="1750" dirty="0" err="1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casos</a:t>
            </a:r>
            <a:r>
              <a:rPr lang="en-US" sz="17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de </a:t>
            </a:r>
            <a:r>
              <a:rPr lang="en-US" sz="1750" dirty="0" err="1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uso</a:t>
            </a:r>
            <a:r>
              <a:rPr lang="en-US" sz="17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</a:t>
            </a:r>
            <a:r>
              <a:rPr lang="en-US" sz="1750" dirty="0" err="1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frecuente</a:t>
            </a:r>
            <a:endParaRPr lang="en-US" sz="175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1CB8FC53-94DA-A989-76EF-AD7D6C735DAC}"/>
              </a:ext>
            </a:extLst>
          </p:cNvPr>
          <p:cNvSpPr/>
          <p:nvPr/>
        </p:nvSpPr>
        <p:spPr>
          <a:xfrm>
            <a:off x="2010608" y="4031264"/>
            <a:ext cx="6295668" cy="612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Un Modelo professor para </a:t>
            </a:r>
            <a:r>
              <a:rPr lang="en-US" sz="150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optimizar</a:t>
            </a:r>
            <a:r>
              <a:rPr lang="en-US" sz="1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y </a:t>
            </a:r>
            <a:r>
              <a:rPr lang="en-US" sz="150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otro</a:t>
            </a:r>
            <a:r>
              <a:rPr lang="en-US" sz="1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estudiante</a:t>
            </a:r>
            <a:r>
              <a:rPr lang="en-US" sz="1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para </a:t>
            </a:r>
            <a:r>
              <a:rPr lang="en-US" sz="150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producción</a:t>
            </a:r>
            <a:endParaRPr lang="en-US" sz="1500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F480F58C-5956-74D7-4DA2-4DF4186D07F4}"/>
              </a:ext>
            </a:extLst>
          </p:cNvPr>
          <p:cNvSpPr/>
          <p:nvPr/>
        </p:nvSpPr>
        <p:spPr>
          <a:xfrm>
            <a:off x="1245632" y="5323046"/>
            <a:ext cx="574477" cy="22860"/>
          </a:xfrm>
          <a:prstGeom prst="roundRect">
            <a:avLst>
              <a:gd name="adj" fmla="val 1256592"/>
            </a:avLst>
          </a:prstGeom>
          <a:solidFill>
            <a:srgbClr val="DD785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9320FC1A-90A3-9E03-8B1F-4D177DF0AC4D}"/>
              </a:ext>
            </a:extLst>
          </p:cNvPr>
          <p:cNvSpPr/>
          <p:nvPr/>
        </p:nvSpPr>
        <p:spPr>
          <a:xfrm>
            <a:off x="837724" y="5149914"/>
            <a:ext cx="430768" cy="430768"/>
          </a:xfrm>
          <a:prstGeom prst="roundRect">
            <a:avLst>
              <a:gd name="adj" fmla="val 66685"/>
            </a:avLst>
          </a:prstGeom>
          <a:solidFill>
            <a:srgbClr val="00002E"/>
          </a:solidFill>
          <a:ln w="22860">
            <a:solidFill>
              <a:srgbClr val="DD785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F4F99001-0D79-8959-9A36-D5763CCAC370}"/>
              </a:ext>
            </a:extLst>
          </p:cNvPr>
          <p:cNvSpPr/>
          <p:nvPr/>
        </p:nvSpPr>
        <p:spPr>
          <a:xfrm>
            <a:off x="917972" y="5257993"/>
            <a:ext cx="270272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6036E7E0-7259-F958-8568-BC36EF557533}"/>
              </a:ext>
            </a:extLst>
          </p:cNvPr>
          <p:cNvSpPr/>
          <p:nvPr/>
        </p:nvSpPr>
        <p:spPr>
          <a:xfrm>
            <a:off x="2010608" y="5184815"/>
            <a:ext cx="4689992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 err="1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Aislo</a:t>
            </a:r>
            <a:r>
              <a:rPr lang="en-US" sz="17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mi </a:t>
            </a:r>
            <a:r>
              <a:rPr lang="en-US" sz="1750" dirty="0" err="1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sistema</a:t>
            </a:r>
            <a:r>
              <a:rPr lang="en-US" sz="17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del drift y </a:t>
            </a:r>
            <a:r>
              <a:rPr lang="en-US" sz="1750" dirty="0" err="1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cambios</a:t>
            </a:r>
            <a:r>
              <a:rPr lang="en-US" sz="17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de </a:t>
            </a:r>
            <a:r>
              <a:rPr lang="en-US" sz="1750" dirty="0" err="1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modelo</a:t>
            </a:r>
            <a:endParaRPr lang="en-US" sz="175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AB17AD3F-0A6C-40A1-07FC-102F770F5798}"/>
              </a:ext>
            </a:extLst>
          </p:cNvPr>
          <p:cNvSpPr/>
          <p:nvPr/>
        </p:nvSpPr>
        <p:spPr>
          <a:xfrm>
            <a:off x="2010608" y="5581293"/>
            <a:ext cx="6295668" cy="612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Tengo mis </a:t>
            </a:r>
            <a:r>
              <a:rPr lang="en-US" sz="1500" b="1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casos</a:t>
            </a:r>
            <a:r>
              <a:rPr lang="en-US" sz="15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para </a:t>
            </a:r>
            <a:r>
              <a:rPr lang="en-US" sz="1500" b="1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reoptimizar</a:t>
            </a:r>
            <a:r>
              <a:rPr lang="en-US" sz="15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sz="1500" b="1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cuando</a:t>
            </a:r>
            <a:r>
              <a:rPr lang="en-US" sz="15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sea </a:t>
            </a:r>
            <a:r>
              <a:rPr lang="en-US" sz="1500" b="1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necesario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76573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764262"/>
            <a:ext cx="5097780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Arquitectura del Sistema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324124" y="1404104"/>
            <a:ext cx="4019788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Componentes y flujo de datos de GEPA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324124" y="1972866"/>
            <a:ext cx="3638550" cy="2791301"/>
          </a:xfrm>
          <a:prstGeom prst="roundRect">
            <a:avLst>
              <a:gd name="adj" fmla="val 10291"/>
            </a:avLst>
          </a:prstGeom>
          <a:solidFill>
            <a:srgbClr val="00002E"/>
          </a:solidFill>
          <a:ln w="22860">
            <a:solidFill>
              <a:srgbClr val="F2B42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3"/>
          <p:cNvSpPr/>
          <p:nvPr/>
        </p:nvSpPr>
        <p:spPr>
          <a:xfrm>
            <a:off x="7856101" y="2187178"/>
            <a:ext cx="574477" cy="574477"/>
          </a:xfrm>
          <a:prstGeom prst="roundRect">
            <a:avLst>
              <a:gd name="adj" fmla="val 15915495"/>
            </a:avLst>
          </a:prstGeom>
          <a:solidFill>
            <a:srgbClr val="F2B42D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14097" y="2345055"/>
            <a:ext cx="258485" cy="25848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38436" y="2953107"/>
            <a:ext cx="3209925" cy="563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Dataset de Entrenamiento, Validación, Test(Robustez)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6538436" y="3631168"/>
            <a:ext cx="3209925" cy="918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Casos con inputs y salidas esperadas en formato CSV o JSON. Define el criterio de éxito objetivo.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10154126" y="1972866"/>
            <a:ext cx="3638550" cy="2791301"/>
          </a:xfrm>
          <a:prstGeom prst="roundRect">
            <a:avLst>
              <a:gd name="adj" fmla="val 10291"/>
            </a:avLst>
          </a:prstGeom>
          <a:solidFill>
            <a:srgbClr val="00002E"/>
          </a:solidFill>
          <a:ln w="22860">
            <a:solidFill>
              <a:srgbClr val="D7425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Shape 7"/>
          <p:cNvSpPr/>
          <p:nvPr/>
        </p:nvSpPr>
        <p:spPr>
          <a:xfrm>
            <a:off x="11686103" y="2187178"/>
            <a:ext cx="574477" cy="574477"/>
          </a:xfrm>
          <a:prstGeom prst="roundRect">
            <a:avLst>
              <a:gd name="adj" fmla="val 15915495"/>
            </a:avLst>
          </a:prstGeom>
          <a:solidFill>
            <a:srgbClr val="D7425E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844099" y="2345055"/>
            <a:ext cx="258485" cy="25848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846951" y="2953107"/>
            <a:ext cx="2252901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Configuración YAML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10368439" y="3349585"/>
            <a:ext cx="3209925" cy="918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Define modelos (profesor/estudiante), métricas, límites de iteración y parámetros de búsqueda evolutiva.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324124" y="4955619"/>
            <a:ext cx="3638550" cy="2509718"/>
          </a:xfrm>
          <a:prstGeom prst="roundRect">
            <a:avLst>
              <a:gd name="adj" fmla="val 11446"/>
            </a:avLst>
          </a:prstGeom>
          <a:solidFill>
            <a:srgbClr val="00002E"/>
          </a:solidFill>
          <a:ln w="22860">
            <a:solidFill>
              <a:srgbClr val="DD785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Shape 11"/>
          <p:cNvSpPr/>
          <p:nvPr/>
        </p:nvSpPr>
        <p:spPr>
          <a:xfrm>
            <a:off x="7856101" y="5169932"/>
            <a:ext cx="574477" cy="574477"/>
          </a:xfrm>
          <a:prstGeom prst="roundRect">
            <a:avLst>
              <a:gd name="adj" fmla="val 15915495"/>
            </a:avLst>
          </a:prstGeom>
          <a:solidFill>
            <a:srgbClr val="DD785E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14097" y="5327809"/>
            <a:ext cx="258485" cy="25848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657023" y="5935861"/>
            <a:ext cx="2972633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Motor de Optimización GEPA</a:t>
            </a:r>
            <a:endParaRPr lang="en-US" sz="1750" dirty="0"/>
          </a:p>
        </p:txBody>
      </p:sp>
      <p:sp>
        <p:nvSpPr>
          <p:cNvPr id="19" name="Text 13"/>
          <p:cNvSpPr/>
          <p:nvPr/>
        </p:nvSpPr>
        <p:spPr>
          <a:xfrm>
            <a:off x="6538436" y="6332339"/>
            <a:ext cx="3209925" cy="918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Ejecuta ciclos de evaluación, reflexión y evolución. Mantiene leaderboard de candidatos Pareto-óptimos.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10154126" y="4955619"/>
            <a:ext cx="3638550" cy="2509718"/>
          </a:xfrm>
          <a:prstGeom prst="roundRect">
            <a:avLst>
              <a:gd name="adj" fmla="val 11446"/>
            </a:avLst>
          </a:prstGeom>
          <a:solidFill>
            <a:srgbClr val="00002E"/>
          </a:solidFill>
          <a:ln w="22860">
            <a:solidFill>
              <a:srgbClr val="48A8E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Shape 15"/>
          <p:cNvSpPr/>
          <p:nvPr/>
        </p:nvSpPr>
        <p:spPr>
          <a:xfrm>
            <a:off x="11686103" y="5169932"/>
            <a:ext cx="574477" cy="574477"/>
          </a:xfrm>
          <a:prstGeom prst="roundRect">
            <a:avLst>
              <a:gd name="adj" fmla="val 15915495"/>
            </a:avLst>
          </a:prstGeom>
          <a:solidFill>
            <a:srgbClr val="48A8E2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844099" y="5327809"/>
            <a:ext cx="258485" cy="25848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846951" y="5935861"/>
            <a:ext cx="2252901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Artefactos de Salida</a:t>
            </a:r>
            <a:endParaRPr lang="en-US" sz="1750" dirty="0"/>
          </a:p>
        </p:txBody>
      </p:sp>
      <p:sp>
        <p:nvSpPr>
          <p:cNvPr id="24" name="Text 17"/>
          <p:cNvSpPr/>
          <p:nvPr/>
        </p:nvSpPr>
        <p:spPr>
          <a:xfrm>
            <a:off x="10368439" y="6332339"/>
            <a:ext cx="3209925" cy="918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Prompts inicial/final, resultados JSON, métricas CSV y reportes de ROI y performance.</a:t>
            </a:r>
            <a:endParaRPr lang="en-US" sz="1500" dirty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8DD2B08B-D496-D943-7DFF-87FCB4861C26}"/>
              </a:ext>
            </a:extLst>
          </p:cNvPr>
          <p:cNvSpPr/>
          <p:nvPr/>
        </p:nvSpPr>
        <p:spPr>
          <a:xfrm>
            <a:off x="12822148" y="7736440"/>
            <a:ext cx="1705510" cy="421241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rgbClr val="00002E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5664" y="756761"/>
            <a:ext cx="4445556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Demo en Vivo: Qué Veremos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6265664" y="1399461"/>
            <a:ext cx="144661" cy="180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265664" y="1630085"/>
            <a:ext cx="7585472" cy="15240"/>
          </a:xfrm>
          <a:prstGeom prst="rect">
            <a:avLst/>
          </a:prstGeom>
          <a:solidFill>
            <a:srgbClr val="F2B42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3"/>
          <p:cNvSpPr/>
          <p:nvPr/>
        </p:nvSpPr>
        <p:spPr>
          <a:xfrm>
            <a:off x="6265664" y="1732836"/>
            <a:ext cx="1702832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Ejecutar Optimización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265664" y="2032397"/>
            <a:ext cx="7585472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Comando: </a:t>
            </a:r>
            <a:r>
              <a:rPr lang="en-US" sz="11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python universal_optimizer.py --config experiments/configs/email_urgency.yaml --verbose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265664" y="2350770"/>
            <a:ext cx="7585472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Modo Verbose: Veremos en tiempo real cómo el "Profesor" analiza errores. Tiempo: ~3-5 minutos.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265664" y="2835473"/>
            <a:ext cx="144661" cy="180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65664" y="3066098"/>
            <a:ext cx="7585472" cy="15240"/>
          </a:xfrm>
          <a:prstGeom prst="rect">
            <a:avLst/>
          </a:prstGeom>
          <a:solidFill>
            <a:srgbClr val="D7425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1" name="Text 8"/>
          <p:cNvSpPr/>
          <p:nvPr/>
        </p:nvSpPr>
        <p:spPr>
          <a:xfrm>
            <a:off x="6265664" y="3168848"/>
            <a:ext cx="2196584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Comparar Antes vs Después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265664" y="3468410"/>
            <a:ext cx="7585472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Prompt inicial genérico vs prompt optimizado especializado. Comparación de scores: Baseline vs Optimized vs Test.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265664" y="3953113"/>
            <a:ext cx="144661" cy="180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65664" y="4183737"/>
            <a:ext cx="7585472" cy="15240"/>
          </a:xfrm>
          <a:prstGeom prst="rect">
            <a:avLst/>
          </a:prstGeom>
          <a:solidFill>
            <a:srgbClr val="DD785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5" name="Text 12"/>
          <p:cNvSpPr/>
          <p:nvPr/>
        </p:nvSpPr>
        <p:spPr>
          <a:xfrm>
            <a:off x="6265664" y="4286488"/>
            <a:ext cx="1702832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Revisar Artefactos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265664" y="4586049"/>
            <a:ext cx="7585472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Entrada: </a:t>
            </a:r>
            <a:r>
              <a:rPr lang="en-US" sz="11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email_urgency.csv</a:t>
            </a: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</a:t>
            </a:r>
            <a:r>
              <a:rPr lang="en-US" sz="11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email_urgency_v1.json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265664" y="4904423"/>
            <a:ext cx="7585472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Salida: </a:t>
            </a:r>
            <a:r>
              <a:rPr lang="en-US" sz="11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initial_prompt.txt</a:t>
            </a: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</a:t>
            </a:r>
            <a:r>
              <a:rPr lang="en-US" sz="11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final_prompt.txt</a:t>
            </a: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</a:t>
            </a:r>
            <a:r>
              <a:rPr lang="en-US" sz="11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results.json</a:t>
            </a: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</a:t>
            </a:r>
            <a:r>
              <a:rPr lang="en-US" sz="11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metricas_optimizacion.csv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265664" y="5389126"/>
            <a:ext cx="144661" cy="180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265664" y="5619750"/>
            <a:ext cx="7585472" cy="15240"/>
          </a:xfrm>
          <a:prstGeom prst="rect">
            <a:avLst/>
          </a:prstGeom>
          <a:solidFill>
            <a:srgbClr val="48A8E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0" name="Text 17"/>
          <p:cNvSpPr/>
          <p:nvPr/>
        </p:nvSpPr>
        <p:spPr>
          <a:xfrm>
            <a:off x="6265664" y="5722501"/>
            <a:ext cx="2261235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Visualizar Leaderboard y ROI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265664" y="6022062"/>
            <a:ext cx="7585472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Comando: </a:t>
            </a:r>
            <a:r>
              <a:rPr lang="en-US" sz="11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python utils/leaderboard.py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265664" y="6340435"/>
            <a:ext cx="7585472" cy="463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Gráficos: </a:t>
            </a:r>
            <a:r>
              <a:rPr lang="en-US" sz="11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gepa_roi_analysis.png</a:t>
            </a: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y </a:t>
            </a:r>
            <a:r>
              <a:rPr lang="en-US" sz="11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gepa_performance_improvement.png</a:t>
            </a: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con punto de equilibrio y proyección de ahorros.</a:t>
            </a:r>
            <a:endParaRPr lang="en-US" sz="1100" dirty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58807674-2172-626F-A0FC-42089C60D575}"/>
              </a:ext>
            </a:extLst>
          </p:cNvPr>
          <p:cNvSpPr/>
          <p:nvPr/>
        </p:nvSpPr>
        <p:spPr>
          <a:xfrm>
            <a:off x="12822148" y="7736440"/>
            <a:ext cx="1705510" cy="421241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rgbClr val="00002E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2a05cd7-7d3d-491c-80c0-f65c4798d990}" enabled="1" method="Privileged" siteId="{17d02e16-8b83-4168-ba0d-c61ac0d093a6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1223</TotalTime>
  <Words>1108</Words>
  <Application>Microsoft Office PowerPoint</Application>
  <PresentationFormat>Personalizado</PresentationFormat>
  <Paragraphs>154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8" baseType="lpstr">
      <vt:lpstr>Consolas</vt:lpstr>
      <vt:lpstr>PT Sans</vt:lpstr>
      <vt:lpstr>Nunito Semi Bold</vt:lpstr>
      <vt:lpstr>Nunito Light</vt:lpstr>
      <vt:lpstr>Aptos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Martinez, Fernando Javier</cp:lastModifiedBy>
  <cp:revision>6</cp:revision>
  <dcterms:created xsi:type="dcterms:W3CDTF">2026-01-06T12:13:03Z</dcterms:created>
  <dcterms:modified xsi:type="dcterms:W3CDTF">2026-04-30T19:50:29Z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Theme:3</vt:lpwstr>
  </property>
  <property fmtid="{D5CDD505-2E9C-101B-9397-08002B2CF9AE}" pid="3" name="ClassificationContentMarkingFooterText">
    <vt:lpwstr>***Este documento está clasificado como PUBLICO por MOVISTAR. ***This document is classified as PUBLIC by MOVISTAR.</vt:lpwstr>
  </property>
</Properties>
</file>